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0" r:id="rId1"/>
  </p:sldMasterIdLst>
  <p:sldIdLst>
    <p:sldId id="256" r:id="rId2"/>
    <p:sldId id="262" r:id="rId3"/>
    <p:sldId id="263" r:id="rId4"/>
    <p:sldId id="260" r:id="rId5"/>
    <p:sldId id="257" r:id="rId6"/>
    <p:sldId id="265" r:id="rId7"/>
    <p:sldId id="266" r:id="rId8"/>
    <p:sldId id="261"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15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F9B3ABE0-8ED1-4636-B282-A44C474072FF}" type="datetimeFigureOut">
              <a:rPr lang="en-IN" smtClean="0"/>
              <a:t>04-10-2024</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2F121FAA-0EDA-4C1A-B7D2-06C001DDA4C5}" type="slidenum">
              <a:rPr lang="en-IN" smtClean="0"/>
              <a:t>‹#›</a:t>
            </a:fld>
            <a:endParaRPr lang="en-IN"/>
          </a:p>
        </p:txBody>
      </p:sp>
    </p:spTree>
    <p:extLst>
      <p:ext uri="{BB962C8B-B14F-4D97-AF65-F5344CB8AC3E}">
        <p14:creationId xmlns:p14="http://schemas.microsoft.com/office/powerpoint/2010/main" val="38884228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9B3ABE0-8ED1-4636-B282-A44C474072FF}" type="datetimeFigureOut">
              <a:rPr lang="en-IN" smtClean="0"/>
              <a:t>04-10-2024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121FAA-0EDA-4C1A-B7D2-06C001DDA4C5}" type="slidenum">
              <a:rPr lang="en-IN" smtClean="0"/>
              <a:t>‹#›</a:t>
            </a:fld>
            <a:endParaRPr lang="en-IN"/>
          </a:p>
        </p:txBody>
      </p:sp>
    </p:spTree>
    <p:extLst>
      <p:ext uri="{BB962C8B-B14F-4D97-AF65-F5344CB8AC3E}">
        <p14:creationId xmlns:p14="http://schemas.microsoft.com/office/powerpoint/2010/main" val="529922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B3ABE0-8ED1-4636-B282-A44C474072FF}" type="datetimeFigureOut">
              <a:rPr lang="en-IN" smtClean="0"/>
              <a:t>04-10-2024</a:t>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F121FAA-0EDA-4C1A-B7D2-06C001DDA4C5}" type="slidenum">
              <a:rPr lang="en-IN" smtClean="0"/>
              <a:t>‹#›</a:t>
            </a:fld>
            <a:endParaRPr lang="en-IN"/>
          </a:p>
        </p:txBody>
      </p:sp>
    </p:spTree>
    <p:extLst>
      <p:ext uri="{BB962C8B-B14F-4D97-AF65-F5344CB8AC3E}">
        <p14:creationId xmlns:p14="http://schemas.microsoft.com/office/powerpoint/2010/main" val="1008759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9B3ABE0-8ED1-4636-B282-A44C474072FF}" type="datetimeFigureOut">
              <a:rPr lang="en-IN" smtClean="0"/>
              <a:t>04-10-2024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F121FAA-0EDA-4C1A-B7D2-06C001DDA4C5}" type="slidenum">
              <a:rPr lang="en-IN" smtClean="0"/>
              <a:t>‹#›</a:t>
            </a:fld>
            <a:endParaRPr lang="en-IN"/>
          </a:p>
        </p:txBody>
      </p:sp>
    </p:spTree>
    <p:extLst>
      <p:ext uri="{BB962C8B-B14F-4D97-AF65-F5344CB8AC3E}">
        <p14:creationId xmlns:p14="http://schemas.microsoft.com/office/powerpoint/2010/main" val="35991444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9B3ABE0-8ED1-4636-B282-A44C474072FF}" type="datetimeFigureOut">
              <a:rPr lang="en-IN" smtClean="0"/>
              <a:t>04-10-2024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F121FAA-0EDA-4C1A-B7D2-06C001DDA4C5}" type="slidenum">
              <a:rPr lang="en-IN" smtClean="0"/>
              <a:t>‹#›</a:t>
            </a:fld>
            <a:endParaRPr lang="en-IN"/>
          </a:p>
        </p:txBody>
      </p:sp>
    </p:spTree>
    <p:extLst>
      <p:ext uri="{BB962C8B-B14F-4D97-AF65-F5344CB8AC3E}">
        <p14:creationId xmlns:p14="http://schemas.microsoft.com/office/powerpoint/2010/main" val="20545318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B3ABE0-8ED1-4636-B282-A44C474072FF}" type="datetimeFigureOut">
              <a:rPr lang="en-IN" smtClean="0"/>
              <a:t>04-10-2024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F121FAA-0EDA-4C1A-B7D2-06C001DDA4C5}" type="slidenum">
              <a:rPr lang="en-IN" smtClean="0"/>
              <a:t>‹#›</a:t>
            </a:fld>
            <a:endParaRPr lang="en-IN"/>
          </a:p>
        </p:txBody>
      </p:sp>
    </p:spTree>
    <p:extLst>
      <p:ext uri="{BB962C8B-B14F-4D97-AF65-F5344CB8AC3E}">
        <p14:creationId xmlns:p14="http://schemas.microsoft.com/office/powerpoint/2010/main" val="3625861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9B3ABE0-8ED1-4636-B282-A44C474072FF}" type="datetimeFigureOut">
              <a:rPr lang="en-IN" smtClean="0"/>
              <a:t>04-10-2024</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2F121FAA-0EDA-4C1A-B7D2-06C001DDA4C5}" type="slidenum">
              <a:rPr lang="en-IN" smtClean="0"/>
              <a:t>‹#›</a:t>
            </a:fld>
            <a:endParaRPr lang="en-IN"/>
          </a:p>
        </p:txBody>
      </p:sp>
    </p:spTree>
    <p:extLst>
      <p:ext uri="{BB962C8B-B14F-4D97-AF65-F5344CB8AC3E}">
        <p14:creationId xmlns:p14="http://schemas.microsoft.com/office/powerpoint/2010/main" val="3267928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9B3ABE0-8ED1-4636-B282-A44C474072FF}" type="datetimeFigureOut">
              <a:rPr lang="en-IN" smtClean="0"/>
              <a:t>04-10-2024</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2F121FAA-0EDA-4C1A-B7D2-06C001DDA4C5}" type="slidenum">
              <a:rPr lang="en-IN" smtClean="0"/>
              <a:t>‹#›</a:t>
            </a:fld>
            <a:endParaRPr lang="en-IN"/>
          </a:p>
        </p:txBody>
      </p:sp>
    </p:spTree>
    <p:extLst>
      <p:ext uri="{BB962C8B-B14F-4D97-AF65-F5344CB8AC3E}">
        <p14:creationId xmlns:p14="http://schemas.microsoft.com/office/powerpoint/2010/main" val="5940346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9B3ABE0-8ED1-4636-B282-A44C474072FF}" type="datetimeFigureOut">
              <a:rPr lang="en-IN" smtClean="0"/>
              <a:t>04-10-2024</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2F121FAA-0EDA-4C1A-B7D2-06C001DDA4C5}" type="slidenum">
              <a:rPr lang="en-IN" smtClean="0"/>
              <a:t>‹#›</a:t>
            </a:fld>
            <a:endParaRPr lang="en-IN"/>
          </a:p>
        </p:txBody>
      </p:sp>
    </p:spTree>
    <p:extLst>
      <p:ext uri="{BB962C8B-B14F-4D97-AF65-F5344CB8AC3E}">
        <p14:creationId xmlns:p14="http://schemas.microsoft.com/office/powerpoint/2010/main" val="2299852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9B3ABE0-8ED1-4636-B282-A44C474072FF}" type="datetimeFigureOut">
              <a:rPr lang="en-IN" smtClean="0"/>
              <a:t>04-10-2024</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2F121FAA-0EDA-4C1A-B7D2-06C001DDA4C5}" type="slidenum">
              <a:rPr lang="en-IN" smtClean="0"/>
              <a:t>‹#›</a:t>
            </a:fld>
            <a:endParaRPr lang="en-IN"/>
          </a:p>
        </p:txBody>
      </p:sp>
    </p:spTree>
    <p:extLst>
      <p:ext uri="{BB962C8B-B14F-4D97-AF65-F5344CB8AC3E}">
        <p14:creationId xmlns:p14="http://schemas.microsoft.com/office/powerpoint/2010/main" val="27580407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9B3ABE0-8ED1-4636-B282-A44C474072FF}" type="datetimeFigureOut">
              <a:rPr lang="en-IN" smtClean="0"/>
              <a:t>04-10-2024</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F121FAA-0EDA-4C1A-B7D2-06C001DDA4C5}" type="slidenum">
              <a:rPr lang="en-IN" smtClean="0"/>
              <a:t>‹#›</a:t>
            </a:fld>
            <a:endParaRPr lang="en-IN"/>
          </a:p>
        </p:txBody>
      </p:sp>
    </p:spTree>
    <p:extLst>
      <p:ext uri="{BB962C8B-B14F-4D97-AF65-F5344CB8AC3E}">
        <p14:creationId xmlns:p14="http://schemas.microsoft.com/office/powerpoint/2010/main" val="35307786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9B3ABE0-8ED1-4636-B282-A44C474072FF}" type="datetimeFigureOut">
              <a:rPr lang="en-IN" smtClean="0"/>
              <a:t>04-10-2024</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F121FAA-0EDA-4C1A-B7D2-06C001DDA4C5}" type="slidenum">
              <a:rPr lang="en-IN" smtClean="0"/>
              <a:t>‹#›</a:t>
            </a:fld>
            <a:endParaRPr lang="en-IN"/>
          </a:p>
        </p:txBody>
      </p:sp>
    </p:spTree>
    <p:extLst>
      <p:ext uri="{BB962C8B-B14F-4D97-AF65-F5344CB8AC3E}">
        <p14:creationId xmlns:p14="http://schemas.microsoft.com/office/powerpoint/2010/main" val="9172199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B3ABE0-8ED1-4636-B282-A44C474072FF}" type="datetimeFigureOut">
              <a:rPr lang="en-IN" smtClean="0"/>
              <a:t>04-10-2024</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F121FAA-0EDA-4C1A-B7D2-06C001DDA4C5}" type="slidenum">
              <a:rPr lang="en-IN" smtClean="0"/>
              <a:t>‹#›</a:t>
            </a:fld>
            <a:endParaRPr lang="en-IN"/>
          </a:p>
        </p:txBody>
      </p:sp>
    </p:spTree>
    <p:extLst>
      <p:ext uri="{BB962C8B-B14F-4D97-AF65-F5344CB8AC3E}">
        <p14:creationId xmlns:p14="http://schemas.microsoft.com/office/powerpoint/2010/main" val="7626345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9B3ABE0-8ED1-4636-B282-A44C474072FF}" type="datetimeFigureOut">
              <a:rPr lang="en-IN" smtClean="0"/>
              <a:t>04-10-2024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F121FAA-0EDA-4C1A-B7D2-06C001DDA4C5}" type="slidenum">
              <a:rPr lang="en-IN" smtClean="0"/>
              <a:t>‹#›</a:t>
            </a:fld>
            <a:endParaRPr lang="en-IN"/>
          </a:p>
        </p:txBody>
      </p:sp>
    </p:spTree>
    <p:extLst>
      <p:ext uri="{BB962C8B-B14F-4D97-AF65-F5344CB8AC3E}">
        <p14:creationId xmlns:p14="http://schemas.microsoft.com/office/powerpoint/2010/main" val="1818126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9B3ABE0-8ED1-4636-B282-A44C474072FF}" type="datetimeFigureOut">
              <a:rPr lang="en-IN" smtClean="0"/>
              <a:t>04-10-2024</a:t>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2F121FAA-0EDA-4C1A-B7D2-06C001DDA4C5}" type="slidenum">
              <a:rPr lang="en-IN" smtClean="0"/>
              <a:t>‹#›</a:t>
            </a:fld>
            <a:endParaRPr lang="en-IN"/>
          </a:p>
        </p:txBody>
      </p:sp>
    </p:spTree>
    <p:extLst>
      <p:ext uri="{BB962C8B-B14F-4D97-AF65-F5344CB8AC3E}">
        <p14:creationId xmlns:p14="http://schemas.microsoft.com/office/powerpoint/2010/main" val="10559475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F9B3ABE0-8ED1-4636-B282-A44C474072FF}" type="datetimeFigureOut">
              <a:rPr lang="en-IN" smtClean="0"/>
              <a:t>04-10-2024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121FAA-0EDA-4C1A-B7D2-06C001DDA4C5}" type="slidenum">
              <a:rPr lang="en-IN" smtClean="0"/>
              <a:t>‹#›</a:t>
            </a:fld>
            <a:endParaRPr lang="en-IN"/>
          </a:p>
        </p:txBody>
      </p:sp>
    </p:spTree>
    <p:extLst>
      <p:ext uri="{BB962C8B-B14F-4D97-AF65-F5344CB8AC3E}">
        <p14:creationId xmlns:p14="http://schemas.microsoft.com/office/powerpoint/2010/main" val="34498892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F9B3ABE0-8ED1-4636-B282-A44C474072FF}" type="datetimeFigureOut">
              <a:rPr lang="en-IN" smtClean="0"/>
              <a:t>04-10-2024</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F121FAA-0EDA-4C1A-B7D2-06C001DDA4C5}" type="slidenum">
              <a:rPr lang="en-IN" smtClean="0"/>
              <a:t>‹#›</a:t>
            </a:fld>
            <a:endParaRPr lang="en-IN"/>
          </a:p>
        </p:txBody>
      </p:sp>
    </p:spTree>
    <p:extLst>
      <p:ext uri="{BB962C8B-B14F-4D97-AF65-F5344CB8AC3E}">
        <p14:creationId xmlns:p14="http://schemas.microsoft.com/office/powerpoint/2010/main" val="10640326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F9B3ABE0-8ED1-4636-B282-A44C474072FF}" type="datetimeFigureOut">
              <a:rPr lang="en-IN" smtClean="0"/>
              <a:t>04-10-2024</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2F121FAA-0EDA-4C1A-B7D2-06C001DDA4C5}" type="slidenum">
              <a:rPr lang="en-IN" smtClean="0"/>
              <a:t>‹#›</a:t>
            </a:fld>
            <a:endParaRPr lang="en-IN"/>
          </a:p>
        </p:txBody>
      </p:sp>
    </p:spTree>
    <p:extLst>
      <p:ext uri="{BB962C8B-B14F-4D97-AF65-F5344CB8AC3E}">
        <p14:creationId xmlns:p14="http://schemas.microsoft.com/office/powerpoint/2010/main" val="744171717"/>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 id="2147483852" r:id="rId12"/>
    <p:sldLayoutId id="2147483853" r:id="rId13"/>
    <p:sldLayoutId id="2147483854" r:id="rId14"/>
    <p:sldLayoutId id="2147483855" r:id="rId15"/>
    <p:sldLayoutId id="2147483856" r:id="rId16"/>
    <p:sldLayoutId id="214748385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131BEF4-21F1-37D6-6898-9DA45F952EA1}"/>
              </a:ext>
            </a:extLst>
          </p:cNvPr>
          <p:cNvSpPr txBox="1"/>
          <p:nvPr/>
        </p:nvSpPr>
        <p:spPr>
          <a:xfrm>
            <a:off x="599768" y="619432"/>
            <a:ext cx="10766322" cy="2000548"/>
          </a:xfrm>
          <a:prstGeom prst="rect">
            <a:avLst/>
          </a:prstGeom>
          <a:noFill/>
        </p:spPr>
        <p:txBody>
          <a:bodyPr wrap="square" rtlCol="0">
            <a:spAutoFit/>
          </a:bodyPr>
          <a:lstStyle/>
          <a:p>
            <a:r>
              <a:rPr lang="en-IN" sz="2800" dirty="0">
                <a:latin typeface="Elephant" panose="02020904090505020303" pitchFamily="18" charset="0"/>
              </a:rPr>
              <a:t>TASK 01:- </a:t>
            </a:r>
            <a:r>
              <a:rPr lang="en-IN" sz="2400" dirty="0">
                <a:latin typeface="Arial Rounded MT Bold" panose="020F0704030504030204" pitchFamily="34" charset="0"/>
              </a:rPr>
              <a:t>UNIQUE CHARACTERISTICS OF DESIGN THINKING EMPATHY PROCESS FLOW</a:t>
            </a:r>
          </a:p>
          <a:p>
            <a:endParaRPr lang="en-IN" sz="2400" dirty="0">
              <a:latin typeface="Arial Rounded MT Bold" panose="020F0704030504030204" pitchFamily="34" charset="0"/>
            </a:endParaRPr>
          </a:p>
          <a:p>
            <a:endParaRPr lang="en-IN" sz="2400" dirty="0">
              <a:latin typeface="Arial Rounded MT Bold" panose="020F0704030504030204" pitchFamily="34" charset="0"/>
            </a:endParaRPr>
          </a:p>
          <a:p>
            <a:endParaRPr lang="en-IN" sz="2400" dirty="0">
              <a:latin typeface="Arial Rounded MT Bold" panose="020F0704030504030204" pitchFamily="34" charset="0"/>
            </a:endParaRPr>
          </a:p>
        </p:txBody>
      </p:sp>
      <p:sp>
        <p:nvSpPr>
          <p:cNvPr id="8" name="TextBox 7">
            <a:extLst>
              <a:ext uri="{FF2B5EF4-FFF2-40B4-BE49-F238E27FC236}">
                <a16:creationId xmlns:a16="http://schemas.microsoft.com/office/drawing/2014/main" id="{24F46D3E-6665-F976-F222-2D3A76FF7AD8}"/>
              </a:ext>
            </a:extLst>
          </p:cNvPr>
          <p:cNvSpPr txBox="1"/>
          <p:nvPr/>
        </p:nvSpPr>
        <p:spPr>
          <a:xfrm>
            <a:off x="1022555" y="1759578"/>
            <a:ext cx="6096000" cy="400110"/>
          </a:xfrm>
          <a:prstGeom prst="rect">
            <a:avLst/>
          </a:prstGeom>
          <a:noFill/>
        </p:spPr>
        <p:txBody>
          <a:bodyPr wrap="square">
            <a:spAutoFit/>
          </a:bodyPr>
          <a:lstStyle/>
          <a:p>
            <a:r>
              <a:rPr lang="en-IN" sz="2000" dirty="0">
                <a:solidFill>
                  <a:schemeClr val="accent6">
                    <a:lumMod val="75000"/>
                  </a:schemeClr>
                </a:solidFill>
              </a:rPr>
              <a:t>Title: Empathy Process Flow - Food Delivery App </a:t>
            </a:r>
          </a:p>
        </p:txBody>
      </p:sp>
      <p:sp>
        <p:nvSpPr>
          <p:cNvPr id="10" name="TextBox 9">
            <a:extLst>
              <a:ext uri="{FF2B5EF4-FFF2-40B4-BE49-F238E27FC236}">
                <a16:creationId xmlns:a16="http://schemas.microsoft.com/office/drawing/2014/main" id="{8283FFEA-3031-2BE1-F5BE-9281B31B7B63}"/>
              </a:ext>
            </a:extLst>
          </p:cNvPr>
          <p:cNvSpPr txBox="1"/>
          <p:nvPr/>
        </p:nvSpPr>
        <p:spPr>
          <a:xfrm>
            <a:off x="1022555" y="2526890"/>
            <a:ext cx="9016180" cy="2308324"/>
          </a:xfrm>
          <a:prstGeom prst="rect">
            <a:avLst/>
          </a:prstGeom>
          <a:noFill/>
        </p:spPr>
        <p:txBody>
          <a:bodyPr wrap="square">
            <a:spAutoFit/>
          </a:bodyPr>
          <a:lstStyle/>
          <a:p>
            <a:r>
              <a:rPr lang="en-IN" sz="2400" dirty="0">
                <a:solidFill>
                  <a:schemeClr val="bg1"/>
                </a:solidFill>
              </a:rPr>
              <a:t>Product Overview :- Food Delivery App </a:t>
            </a:r>
          </a:p>
          <a:p>
            <a:r>
              <a:rPr lang="en-IN" sz="2400" dirty="0">
                <a:solidFill>
                  <a:schemeClr val="bg1"/>
                </a:solidFill>
              </a:rPr>
              <a:t>Text: The Food delivery app allows users to order food from their favourite restaurants and have it delivered to their doorstep. Key features include search and filter options, menu browsing, order placement, and basic order tracking.</a:t>
            </a:r>
          </a:p>
        </p:txBody>
      </p:sp>
    </p:spTree>
    <p:extLst>
      <p:ext uri="{BB962C8B-B14F-4D97-AF65-F5344CB8AC3E}">
        <p14:creationId xmlns:p14="http://schemas.microsoft.com/office/powerpoint/2010/main" val="3187686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5">
            <a:lumMod val="5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4FC4D5-94A3-C075-B893-FBD2106F7E3C}"/>
              </a:ext>
            </a:extLst>
          </p:cNvPr>
          <p:cNvSpPr txBox="1"/>
          <p:nvPr/>
        </p:nvSpPr>
        <p:spPr>
          <a:xfrm>
            <a:off x="570271" y="1118785"/>
            <a:ext cx="11277600" cy="3724096"/>
          </a:xfrm>
          <a:prstGeom prst="rect">
            <a:avLst/>
          </a:prstGeom>
          <a:noFill/>
        </p:spPr>
        <p:txBody>
          <a:bodyPr wrap="square">
            <a:spAutoFit/>
          </a:bodyPr>
          <a:lstStyle/>
          <a:p>
            <a:r>
              <a:rPr lang="en-IN" dirty="0"/>
              <a:t> </a:t>
            </a:r>
            <a:r>
              <a:rPr lang="en-IN" sz="4000" b="1" dirty="0">
                <a:latin typeface="Algerian" panose="04020705040A02060702" pitchFamily="82" charset="0"/>
              </a:rPr>
              <a:t>Identified Problem</a:t>
            </a:r>
            <a:r>
              <a:rPr lang="en-IN" sz="4000" dirty="0">
                <a:latin typeface="Algerian" panose="04020705040A02060702" pitchFamily="82" charset="0"/>
              </a:rPr>
              <a:t>:-</a:t>
            </a:r>
          </a:p>
          <a:p>
            <a:r>
              <a:rPr lang="en-IN" sz="3600" b="1" dirty="0">
                <a:latin typeface="Elephant" panose="02020904090505020303" pitchFamily="18" charset="0"/>
              </a:rPr>
              <a:t>Title:- </a:t>
            </a:r>
            <a:r>
              <a:rPr lang="en-IN" sz="3200" b="1" dirty="0"/>
              <a:t>Identified Problem. Inaccurate Order Tracking </a:t>
            </a:r>
          </a:p>
          <a:p>
            <a:r>
              <a:rPr lang="en-IN" sz="3200" b="1" dirty="0">
                <a:latin typeface="Elephant" panose="02020904090505020303" pitchFamily="18" charset="0"/>
              </a:rPr>
              <a:t>Text:-</a:t>
            </a:r>
            <a:r>
              <a:rPr lang="en-IN" sz="3200" b="1" dirty="0"/>
              <a:t>Users often face frustration due to the lack of accurate real-time tracking of their delivery, leading to anxiety and dissatisfaction.</a:t>
            </a:r>
          </a:p>
          <a:p>
            <a:r>
              <a:rPr lang="en-IN" sz="3200" dirty="0">
                <a:latin typeface="Elephant" panose="02020904090505020303" pitchFamily="18" charset="0"/>
              </a:rPr>
              <a:t>visual:- </a:t>
            </a:r>
            <a:r>
              <a:rPr lang="en-IN" sz="3200" b="1" dirty="0"/>
              <a:t>A screenshot or image of delayed delivery notifications.</a:t>
            </a:r>
          </a:p>
        </p:txBody>
      </p:sp>
    </p:spTree>
    <p:extLst>
      <p:ext uri="{BB962C8B-B14F-4D97-AF65-F5344CB8AC3E}">
        <p14:creationId xmlns:p14="http://schemas.microsoft.com/office/powerpoint/2010/main" val="581741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E2FA71B-F0B9-1C01-B669-3CD3A20392EA}"/>
              </a:ext>
            </a:extLst>
          </p:cNvPr>
          <p:cNvSpPr txBox="1"/>
          <p:nvPr/>
        </p:nvSpPr>
        <p:spPr>
          <a:xfrm>
            <a:off x="707922" y="1175356"/>
            <a:ext cx="10323871" cy="3170099"/>
          </a:xfrm>
          <a:prstGeom prst="rect">
            <a:avLst/>
          </a:prstGeom>
          <a:noFill/>
        </p:spPr>
        <p:txBody>
          <a:bodyPr wrap="square">
            <a:spAutoFit/>
          </a:bodyPr>
          <a:lstStyle/>
          <a:p>
            <a:r>
              <a:rPr lang="en-IN" sz="4000" b="1" dirty="0">
                <a:latin typeface="Algerian" panose="04020705040A02060702" pitchFamily="82" charset="0"/>
              </a:rPr>
              <a:t>User Persona:-</a:t>
            </a:r>
          </a:p>
          <a:p>
            <a:r>
              <a:rPr lang="en-IN" sz="3200" b="1" dirty="0">
                <a:latin typeface="Elephant" panose="02020904090505020303" pitchFamily="18" charset="0"/>
              </a:rPr>
              <a:t>Title:</a:t>
            </a:r>
            <a:r>
              <a:rPr lang="en-IN" sz="3200" b="1" dirty="0">
                <a:latin typeface="Castellar" panose="020A0402060406010301" pitchFamily="18" charset="0"/>
              </a:rPr>
              <a:t> </a:t>
            </a:r>
            <a:r>
              <a:rPr lang="en-IN" sz="3200" b="1" dirty="0"/>
              <a:t>User Persona of Sarah, Marketing Executive. </a:t>
            </a:r>
          </a:p>
          <a:p>
            <a:r>
              <a:rPr lang="en-IN" sz="3200" b="1" dirty="0">
                <a:latin typeface="Elephant" panose="02020904090505020303" pitchFamily="18" charset="0"/>
              </a:rPr>
              <a:t>Text: </a:t>
            </a:r>
            <a:r>
              <a:rPr lang="en-IN" sz="3200" b="1" dirty="0"/>
              <a:t>"Sarah is 28 years old, works in marketing, and frequently orders food during workdays. She values punctuality and expects accurate updates on her order."   </a:t>
            </a:r>
          </a:p>
        </p:txBody>
      </p:sp>
    </p:spTree>
    <p:extLst>
      <p:ext uri="{BB962C8B-B14F-4D97-AF65-F5344CB8AC3E}">
        <p14:creationId xmlns:p14="http://schemas.microsoft.com/office/powerpoint/2010/main" val="32039342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48C77156-501E-74FA-24CE-6694D077A3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0716" y="195691"/>
            <a:ext cx="5355865" cy="66623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86069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2">
            <a:lumMod val="60000"/>
            <a:lumOff val="40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242975-92CF-56DA-22EB-6C89003DB965}"/>
              </a:ext>
            </a:extLst>
          </p:cNvPr>
          <p:cNvSpPr txBox="1"/>
          <p:nvPr/>
        </p:nvSpPr>
        <p:spPr>
          <a:xfrm>
            <a:off x="629264" y="535900"/>
            <a:ext cx="9497961" cy="5786199"/>
          </a:xfrm>
          <a:prstGeom prst="rect">
            <a:avLst/>
          </a:prstGeom>
          <a:noFill/>
        </p:spPr>
        <p:txBody>
          <a:bodyPr wrap="square">
            <a:spAutoFit/>
          </a:bodyPr>
          <a:lstStyle/>
          <a:p>
            <a:pPr marL="342900" indent="-342900">
              <a:buFont typeface="Wingdings" panose="05000000000000000000" pitchFamily="2" charset="2"/>
              <a:buChar char="v"/>
            </a:pPr>
            <a:r>
              <a:rPr lang="en-IN" sz="2000" dirty="0">
                <a:latin typeface="Algerian" panose="04020705040A02060702" pitchFamily="82" charset="0"/>
              </a:rPr>
              <a:t>Stage 1 : </a:t>
            </a:r>
            <a:r>
              <a:rPr lang="en-IN" dirty="0">
                <a:latin typeface="Arial Rounded MT Bold" panose="020F0704030504030204" pitchFamily="34" charset="0"/>
              </a:rPr>
              <a:t>USER PLACES ORDER</a:t>
            </a:r>
          </a:p>
          <a:p>
            <a:pPr marL="285750" indent="-285750">
              <a:buFont typeface="Wingdings" panose="05000000000000000000" pitchFamily="2" charset="2"/>
              <a:buChar char="Ø"/>
            </a:pPr>
            <a:r>
              <a:rPr lang="en-IN" dirty="0"/>
              <a:t>Emotion: Excitement, Hunger.</a:t>
            </a:r>
          </a:p>
          <a:p>
            <a:pPr marL="285750" indent="-285750">
              <a:buFont typeface="Wingdings" panose="05000000000000000000" pitchFamily="2" charset="2"/>
              <a:buChar char="Ø"/>
            </a:pPr>
            <a:r>
              <a:rPr lang="en-IN" dirty="0"/>
              <a:t>Action: The user browses the menu, selects items, and places an order. </a:t>
            </a:r>
          </a:p>
          <a:p>
            <a:pPr marL="285750" indent="-285750">
              <a:buFont typeface="Wingdings" panose="05000000000000000000" pitchFamily="2" charset="2"/>
              <a:buChar char="Ø"/>
            </a:pPr>
            <a:r>
              <a:rPr lang="en-IN" dirty="0"/>
              <a:t>User Goal: Get food as soon as possible.</a:t>
            </a:r>
          </a:p>
          <a:p>
            <a:pPr marL="285750" indent="-285750">
              <a:buFont typeface="Wingdings" panose="05000000000000000000" pitchFamily="2" charset="2"/>
              <a:buChar char="v"/>
            </a:pPr>
            <a:r>
              <a:rPr lang="en-IN" sz="2000" dirty="0">
                <a:latin typeface="Algerian" panose="04020705040A02060702" pitchFamily="82" charset="0"/>
              </a:rPr>
              <a:t>Stage 2 : </a:t>
            </a:r>
            <a:r>
              <a:rPr lang="en-IN" sz="2000" dirty="0">
                <a:latin typeface="Arial Rounded MT Bold" panose="020F0704030504030204" pitchFamily="34" charset="0"/>
              </a:rPr>
              <a:t>ORDER PROCESSING</a:t>
            </a:r>
            <a:endParaRPr lang="en-IN" sz="2000" dirty="0">
              <a:latin typeface="Algerian" panose="04020705040A02060702" pitchFamily="82" charset="0"/>
            </a:endParaRPr>
          </a:p>
          <a:p>
            <a:pPr marL="285750" indent="-285750">
              <a:buFont typeface="Wingdings" panose="05000000000000000000" pitchFamily="2" charset="2"/>
              <a:buChar char="Ø"/>
            </a:pPr>
            <a:r>
              <a:rPr lang="en-IN" dirty="0"/>
              <a:t> Emotion :Anticipation. </a:t>
            </a:r>
          </a:p>
          <a:p>
            <a:pPr marL="285750" indent="-285750">
              <a:buFont typeface="Wingdings" panose="05000000000000000000" pitchFamily="2" charset="2"/>
              <a:buChar char="Ø"/>
            </a:pPr>
            <a:r>
              <a:rPr lang="en-IN" dirty="0"/>
              <a:t> Action: The restaurant accepts the order and begin with the preparation.  </a:t>
            </a:r>
          </a:p>
          <a:p>
            <a:pPr marL="285750" indent="-285750">
              <a:buFont typeface="Wingdings" panose="05000000000000000000" pitchFamily="2" charset="2"/>
              <a:buChar char="Ø"/>
            </a:pPr>
            <a:r>
              <a:rPr lang="en-IN" dirty="0"/>
              <a:t>User Goal: Receive confirmation that the order is accepted.</a:t>
            </a:r>
          </a:p>
          <a:p>
            <a:r>
              <a:rPr lang="en-IN" dirty="0"/>
              <a:t> </a:t>
            </a:r>
            <a:r>
              <a:rPr lang="en-IN" sz="2000" dirty="0">
                <a:latin typeface="Algerian" panose="04020705040A02060702" pitchFamily="82" charset="0"/>
              </a:rPr>
              <a:t>Stage 3: </a:t>
            </a:r>
            <a:r>
              <a:rPr lang="en-IN" dirty="0">
                <a:latin typeface="Arial Rounded MT Bold" panose="020F0704030504030204" pitchFamily="34" charset="0"/>
              </a:rPr>
              <a:t>WAITING FOR UPDATES</a:t>
            </a:r>
          </a:p>
          <a:p>
            <a:pPr marL="285750" indent="-285750">
              <a:buFont typeface="Wingdings" panose="05000000000000000000" pitchFamily="2" charset="2"/>
              <a:buChar char="Ø"/>
            </a:pPr>
            <a:r>
              <a:rPr lang="en-IN" dirty="0"/>
              <a:t>Emotion: Uncertainty, Anxiety.</a:t>
            </a:r>
          </a:p>
          <a:p>
            <a:pPr marL="285750" indent="-285750">
              <a:buFont typeface="Wingdings" panose="05000000000000000000" pitchFamily="2" charset="2"/>
              <a:buChar char="Ø"/>
            </a:pPr>
            <a:r>
              <a:rPr lang="en-IN" dirty="0"/>
              <a:t>Action : User waits for updates about the order preparation and delivery status.  </a:t>
            </a:r>
          </a:p>
          <a:p>
            <a:pPr marL="285750" indent="-285750">
              <a:buFont typeface="Wingdings" panose="05000000000000000000" pitchFamily="2" charset="2"/>
              <a:buChar char="Ø"/>
            </a:pPr>
            <a:r>
              <a:rPr lang="en-IN" dirty="0"/>
              <a:t> User Goal: Get real-time updates (e.g., order prepared, food on the way).</a:t>
            </a:r>
          </a:p>
          <a:p>
            <a:r>
              <a:rPr lang="en-IN" dirty="0"/>
              <a:t> </a:t>
            </a:r>
            <a:r>
              <a:rPr lang="en-IN" sz="2000" dirty="0">
                <a:latin typeface="Algerian" panose="04020705040A02060702" pitchFamily="82" charset="0"/>
              </a:rPr>
              <a:t>Stage 4</a:t>
            </a:r>
            <a:r>
              <a:rPr lang="en-IN" dirty="0">
                <a:latin typeface="Arial Rounded MT Bold" panose="020F0704030504030204" pitchFamily="34" charset="0"/>
              </a:rPr>
              <a:t>: REAL TIME TRACKING</a:t>
            </a:r>
          </a:p>
          <a:p>
            <a:pPr marL="285750" indent="-285750">
              <a:buFont typeface="Wingdings" panose="05000000000000000000" pitchFamily="2" charset="2"/>
              <a:buChar char="Ø"/>
            </a:pPr>
            <a:r>
              <a:rPr lang="en-IN" dirty="0"/>
              <a:t>Emotion: Reassured, Relieved  </a:t>
            </a:r>
          </a:p>
          <a:p>
            <a:pPr marL="285750" indent="-285750">
              <a:buFont typeface="Wingdings" panose="05000000000000000000" pitchFamily="2" charset="2"/>
              <a:buChar char="Ø"/>
            </a:pPr>
            <a:r>
              <a:rPr lang="en-IN" dirty="0"/>
              <a:t>Action : User tracks the delivery in real-time using GPS.  </a:t>
            </a:r>
          </a:p>
          <a:p>
            <a:pPr marL="285750" indent="-285750">
              <a:buFont typeface="Wingdings" panose="05000000000000000000" pitchFamily="2" charset="2"/>
              <a:buChar char="Ø"/>
            </a:pPr>
            <a:r>
              <a:rPr lang="en-IN" dirty="0"/>
              <a:t> User Goal: Know the exact location and time of arrival.</a:t>
            </a:r>
          </a:p>
          <a:p>
            <a:r>
              <a:rPr lang="en-IN" dirty="0"/>
              <a:t> </a:t>
            </a:r>
            <a:r>
              <a:rPr lang="en-IN" sz="2000" dirty="0">
                <a:latin typeface="Algerian" panose="04020705040A02060702" pitchFamily="82" charset="0"/>
              </a:rPr>
              <a:t>Stage 5</a:t>
            </a:r>
            <a:r>
              <a:rPr lang="en-IN" dirty="0"/>
              <a:t>: </a:t>
            </a:r>
            <a:r>
              <a:rPr lang="en-IN" dirty="0">
                <a:latin typeface="Arial Rounded MT Bold" panose="020F0704030504030204" pitchFamily="34" charset="0"/>
              </a:rPr>
              <a:t>DELIVERY AND FEEDBACK</a:t>
            </a:r>
            <a:endParaRPr lang="en-IN" dirty="0"/>
          </a:p>
          <a:p>
            <a:pPr marL="285750" indent="-285750">
              <a:buFont typeface="Wingdings" panose="05000000000000000000" pitchFamily="2" charset="2"/>
              <a:buChar char="Ø"/>
            </a:pPr>
            <a:r>
              <a:rPr lang="en-IN" dirty="0"/>
              <a:t> Emotion: Satisfaction or Frustration (depending on delivery experience). </a:t>
            </a:r>
          </a:p>
          <a:p>
            <a:pPr marL="285750" indent="-285750">
              <a:buFont typeface="Wingdings" panose="05000000000000000000" pitchFamily="2" charset="2"/>
              <a:buChar char="Ø"/>
            </a:pPr>
            <a:r>
              <a:rPr lang="en-IN" dirty="0"/>
              <a:t> Action : User receives the food and leaves feedback. </a:t>
            </a:r>
          </a:p>
          <a:p>
            <a:pPr marL="285750" indent="-285750">
              <a:buFont typeface="Wingdings" panose="05000000000000000000" pitchFamily="2" charset="2"/>
              <a:buChar char="Ø"/>
            </a:pPr>
            <a:r>
              <a:rPr lang="en-IN" dirty="0"/>
              <a:t>  User Goal: Enjoy the meal and share the experience.</a:t>
            </a:r>
          </a:p>
        </p:txBody>
      </p:sp>
    </p:spTree>
    <p:extLst>
      <p:ext uri="{BB962C8B-B14F-4D97-AF65-F5344CB8AC3E}">
        <p14:creationId xmlns:p14="http://schemas.microsoft.com/office/powerpoint/2010/main" val="9381984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68B1D35-407F-7B25-5BC2-3230C6C3F68A}"/>
              </a:ext>
            </a:extLst>
          </p:cNvPr>
          <p:cNvSpPr txBox="1"/>
          <p:nvPr/>
        </p:nvSpPr>
        <p:spPr>
          <a:xfrm>
            <a:off x="723482" y="1770576"/>
            <a:ext cx="10400043" cy="3662541"/>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a:spAutoFit/>
          </a:bodyPr>
          <a:lstStyle/>
          <a:p>
            <a:r>
              <a:rPr lang="en-IN" sz="4000" dirty="0">
                <a:latin typeface="Algerian" panose="04020705040A02060702" pitchFamily="82" charset="0"/>
              </a:rPr>
              <a:t>Improvement Idea   </a:t>
            </a:r>
          </a:p>
          <a:p>
            <a:r>
              <a:rPr lang="en-IN" sz="3200" dirty="0">
                <a:latin typeface="Elephant" panose="02020904090505020303" pitchFamily="18" charset="0"/>
              </a:rPr>
              <a:t>Real-Time GPS Tracking:-</a:t>
            </a:r>
          </a:p>
          <a:p>
            <a:r>
              <a:rPr lang="en-IN" sz="3200" dirty="0"/>
              <a:t>"</a:t>
            </a:r>
            <a:r>
              <a:rPr lang="en-IN" sz="3200" b="1" dirty="0"/>
              <a:t>By implementing a real-time GPS tracking system, users will receive constant updates on their order status, reducing frustration and improving satisfaction."   - *Visual:* Use an image of a GPS tracker.</a:t>
            </a:r>
          </a:p>
        </p:txBody>
      </p:sp>
    </p:spTree>
    <p:extLst>
      <p:ext uri="{BB962C8B-B14F-4D97-AF65-F5344CB8AC3E}">
        <p14:creationId xmlns:p14="http://schemas.microsoft.com/office/powerpoint/2010/main" val="31874637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CEA9CA-DAAF-45EE-5D5F-7771A0EC29DD}"/>
              </a:ext>
            </a:extLst>
          </p:cNvPr>
          <p:cNvSpPr txBox="1"/>
          <p:nvPr/>
        </p:nvSpPr>
        <p:spPr>
          <a:xfrm>
            <a:off x="609600" y="2408903"/>
            <a:ext cx="11277600" cy="830997"/>
          </a:xfrm>
          <a:prstGeom prst="rect">
            <a:avLst/>
          </a:prstGeom>
          <a:noFill/>
        </p:spPr>
        <p:txBody>
          <a:bodyPr wrap="square" rtlCol="0">
            <a:spAutoFit/>
          </a:bodyPr>
          <a:lstStyle/>
          <a:p>
            <a:r>
              <a:rPr lang="en-IN" sz="4800" b="1" dirty="0"/>
              <a:t>EMPATHY PROCESS FLOW CHART:-</a:t>
            </a:r>
          </a:p>
        </p:txBody>
      </p:sp>
      <p:sp>
        <p:nvSpPr>
          <p:cNvPr id="3" name="Arrow: Right 2">
            <a:extLst>
              <a:ext uri="{FF2B5EF4-FFF2-40B4-BE49-F238E27FC236}">
                <a16:creationId xmlns:a16="http://schemas.microsoft.com/office/drawing/2014/main" id="{9BD626B2-4681-B4A0-81EC-A42C186AD298}"/>
              </a:ext>
            </a:extLst>
          </p:cNvPr>
          <p:cNvSpPr/>
          <p:nvPr/>
        </p:nvSpPr>
        <p:spPr>
          <a:xfrm>
            <a:off x="6096000" y="4109884"/>
            <a:ext cx="5053781" cy="151416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12089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A420BE8-CC1C-E808-246D-2F9120B95B60}"/>
              </a:ext>
            </a:extLst>
          </p:cNvPr>
          <p:cNvSpPr txBox="1"/>
          <p:nvPr/>
        </p:nvSpPr>
        <p:spPr>
          <a:xfrm>
            <a:off x="1199536" y="1032388"/>
            <a:ext cx="7187380" cy="5016758"/>
          </a:xfrm>
          <a:prstGeom prst="rect">
            <a:avLst/>
          </a:prstGeom>
          <a:noFill/>
        </p:spPr>
        <p:txBody>
          <a:bodyPr wrap="square" rtlCol="0">
            <a:spAutoFit/>
          </a:bodyPr>
          <a:lstStyle/>
          <a:p>
            <a:r>
              <a:rPr lang="en-IN" sz="4000" dirty="0">
                <a:solidFill>
                  <a:schemeClr val="bg1"/>
                </a:solidFill>
                <a:latin typeface="Castellar" panose="020A0402060406010301" pitchFamily="18" charset="0"/>
              </a:rPr>
              <a:t>Teamleos35</a:t>
            </a:r>
          </a:p>
          <a:p>
            <a:r>
              <a:rPr lang="en-IN" sz="4000" dirty="0">
                <a:solidFill>
                  <a:schemeClr val="bg1"/>
                </a:solidFill>
                <a:latin typeface="Castellar" panose="020A0402060406010301" pitchFamily="18" charset="0"/>
              </a:rPr>
              <a:t>d .</a:t>
            </a:r>
            <a:r>
              <a:rPr lang="en-IN" sz="4000" dirty="0" err="1">
                <a:solidFill>
                  <a:schemeClr val="bg1"/>
                </a:solidFill>
                <a:latin typeface="Castellar" panose="020A0402060406010301" pitchFamily="18" charset="0"/>
              </a:rPr>
              <a:t>Vishali</a:t>
            </a:r>
            <a:endParaRPr lang="en-IN" sz="4000" dirty="0">
              <a:solidFill>
                <a:schemeClr val="bg1"/>
              </a:solidFill>
              <a:latin typeface="Castellar" panose="020A0402060406010301" pitchFamily="18" charset="0"/>
            </a:endParaRPr>
          </a:p>
          <a:p>
            <a:r>
              <a:rPr lang="en-IN" sz="4000" dirty="0" err="1">
                <a:solidFill>
                  <a:schemeClr val="bg1"/>
                </a:solidFill>
                <a:latin typeface="Castellar" panose="020A0402060406010301" pitchFamily="18" charset="0"/>
              </a:rPr>
              <a:t>G.Himasagar</a:t>
            </a:r>
            <a:r>
              <a:rPr lang="en-IN" sz="4000" dirty="0">
                <a:solidFill>
                  <a:schemeClr val="bg1"/>
                </a:solidFill>
                <a:latin typeface="Castellar" panose="020A0402060406010301" pitchFamily="18" charset="0"/>
              </a:rPr>
              <a:t> </a:t>
            </a:r>
            <a:r>
              <a:rPr lang="en-IN" sz="4000" dirty="0" err="1">
                <a:solidFill>
                  <a:schemeClr val="bg1"/>
                </a:solidFill>
                <a:latin typeface="Castellar" panose="020A0402060406010301" pitchFamily="18" charset="0"/>
              </a:rPr>
              <a:t>reddy</a:t>
            </a:r>
            <a:endParaRPr lang="en-IN" sz="4000" dirty="0">
              <a:solidFill>
                <a:schemeClr val="bg1"/>
              </a:solidFill>
              <a:latin typeface="Castellar" panose="020A0402060406010301" pitchFamily="18" charset="0"/>
            </a:endParaRPr>
          </a:p>
          <a:p>
            <a:r>
              <a:rPr lang="en-IN" sz="4000" dirty="0" err="1">
                <a:solidFill>
                  <a:schemeClr val="bg1"/>
                </a:solidFill>
                <a:latin typeface="Castellar" panose="020A0402060406010301" pitchFamily="18" charset="0"/>
              </a:rPr>
              <a:t>b.Lokesh</a:t>
            </a:r>
            <a:endParaRPr lang="en-IN" sz="4000" dirty="0">
              <a:solidFill>
                <a:schemeClr val="bg1"/>
              </a:solidFill>
              <a:latin typeface="Castellar" panose="020A0402060406010301" pitchFamily="18" charset="0"/>
            </a:endParaRPr>
          </a:p>
          <a:p>
            <a:r>
              <a:rPr lang="en-IN" sz="4000" dirty="0" err="1">
                <a:solidFill>
                  <a:schemeClr val="bg1"/>
                </a:solidFill>
                <a:latin typeface="Castellar" panose="020A0402060406010301" pitchFamily="18" charset="0"/>
              </a:rPr>
              <a:t>d.Dheeraj</a:t>
            </a:r>
            <a:endParaRPr lang="en-IN" sz="4000" dirty="0">
              <a:solidFill>
                <a:schemeClr val="bg1"/>
              </a:solidFill>
              <a:latin typeface="Castellar" panose="020A0402060406010301" pitchFamily="18" charset="0"/>
            </a:endParaRPr>
          </a:p>
          <a:p>
            <a:r>
              <a:rPr lang="en-IN" sz="4000" dirty="0">
                <a:solidFill>
                  <a:schemeClr val="bg1"/>
                </a:solidFill>
                <a:latin typeface="Castellar" panose="020A0402060406010301" pitchFamily="18" charset="0"/>
              </a:rPr>
              <a:t>Renu </a:t>
            </a:r>
            <a:r>
              <a:rPr lang="en-IN" sz="4000" dirty="0" err="1">
                <a:solidFill>
                  <a:schemeClr val="bg1"/>
                </a:solidFill>
                <a:latin typeface="Castellar" panose="020A0402060406010301" pitchFamily="18" charset="0"/>
              </a:rPr>
              <a:t>sirvi</a:t>
            </a:r>
            <a:endParaRPr lang="en-IN" sz="4000" dirty="0">
              <a:solidFill>
                <a:schemeClr val="bg1"/>
              </a:solidFill>
              <a:latin typeface="Castellar" panose="020A0402060406010301" pitchFamily="18" charset="0"/>
            </a:endParaRPr>
          </a:p>
          <a:p>
            <a:r>
              <a:rPr lang="en-IN" sz="4000" dirty="0" err="1">
                <a:solidFill>
                  <a:schemeClr val="bg1"/>
                </a:solidFill>
                <a:latin typeface="Castellar" panose="020A0402060406010301" pitchFamily="18" charset="0"/>
              </a:rPr>
              <a:t>m.Hansika</a:t>
            </a:r>
            <a:r>
              <a:rPr lang="en-IN" sz="4000" dirty="0">
                <a:solidFill>
                  <a:schemeClr val="bg1"/>
                </a:solidFill>
                <a:latin typeface="Castellar" panose="020A0402060406010301" pitchFamily="18" charset="0"/>
              </a:rPr>
              <a:t> </a:t>
            </a:r>
            <a:r>
              <a:rPr lang="en-IN" sz="4000" dirty="0" err="1">
                <a:solidFill>
                  <a:schemeClr val="bg1"/>
                </a:solidFill>
                <a:latin typeface="Castellar" panose="020A0402060406010301" pitchFamily="18" charset="0"/>
              </a:rPr>
              <a:t>reddy</a:t>
            </a:r>
            <a:endParaRPr lang="en-IN" sz="4000" dirty="0">
              <a:solidFill>
                <a:schemeClr val="bg1"/>
              </a:solidFill>
              <a:latin typeface="Castellar" panose="020A0402060406010301" pitchFamily="18" charset="0"/>
            </a:endParaRPr>
          </a:p>
          <a:p>
            <a:endParaRPr lang="en-IN" sz="4000" dirty="0">
              <a:solidFill>
                <a:schemeClr val="bg1"/>
              </a:solidFill>
              <a:latin typeface="Castellar" panose="020A0402060406010301" pitchFamily="18" charset="0"/>
            </a:endParaRPr>
          </a:p>
        </p:txBody>
      </p:sp>
    </p:spTree>
    <p:extLst>
      <p:ext uri="{BB962C8B-B14F-4D97-AF65-F5344CB8AC3E}">
        <p14:creationId xmlns:p14="http://schemas.microsoft.com/office/powerpoint/2010/main" val="30304419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03CD00D-37B8-C185-1A1D-396BC131913D}"/>
              </a:ext>
            </a:extLst>
          </p:cNvPr>
          <p:cNvSpPr txBox="1"/>
          <p:nvPr/>
        </p:nvSpPr>
        <p:spPr>
          <a:xfrm>
            <a:off x="312094" y="1346520"/>
            <a:ext cx="11567812" cy="3385542"/>
          </a:xfrm>
          <a:prstGeom prst="rect">
            <a:avLst/>
          </a:prstGeom>
          <a:noFill/>
        </p:spPr>
        <p:txBody>
          <a:bodyPr wrap="square">
            <a:spAutoFit/>
          </a:bodyPr>
          <a:lstStyle/>
          <a:p>
            <a:r>
              <a:rPr lang="en-IN" sz="5400" dirty="0">
                <a:latin typeface="Algerian" panose="04020705040A02060702" pitchFamily="82" charset="0"/>
              </a:rPr>
              <a:t>Empathy Process Flow chart:-</a:t>
            </a:r>
          </a:p>
          <a:p>
            <a:r>
              <a:rPr lang="en-IN" sz="3200" dirty="0">
                <a:latin typeface="Castellar" panose="020A0402060406010301" pitchFamily="18" charset="0"/>
              </a:rPr>
              <a:t> </a:t>
            </a:r>
            <a:r>
              <a:rPr lang="en-IN" sz="3200" b="1" dirty="0">
                <a:latin typeface="Elephant" panose="02020904090505020303" pitchFamily="18" charset="0"/>
              </a:rPr>
              <a:t>Title: </a:t>
            </a:r>
            <a:r>
              <a:rPr lang="en-IN" sz="3200" b="1" dirty="0"/>
              <a:t>Empathy Process Flow  </a:t>
            </a:r>
          </a:p>
          <a:p>
            <a:r>
              <a:rPr lang="en-IN" sz="3200" b="1" dirty="0"/>
              <a:t> </a:t>
            </a:r>
            <a:r>
              <a:rPr lang="en-IN" sz="3200" b="1" dirty="0">
                <a:latin typeface="Elephant" panose="02020904090505020303" pitchFamily="18" charset="0"/>
              </a:rPr>
              <a:t>Text: </a:t>
            </a:r>
            <a:r>
              <a:rPr lang="en-IN" sz="3200" b="1" dirty="0"/>
              <a:t>"The process starts when a user places an order and waits for updates. If the updates are unclear or delayed, users experience frustration. A better tracking system can help address this issue.</a:t>
            </a:r>
          </a:p>
        </p:txBody>
      </p:sp>
    </p:spTree>
    <p:extLst>
      <p:ext uri="{BB962C8B-B14F-4D97-AF65-F5344CB8AC3E}">
        <p14:creationId xmlns:p14="http://schemas.microsoft.com/office/powerpoint/2010/main" val="377740277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164</TotalTime>
  <Words>476</Words>
  <Application>Microsoft Office PowerPoint</Application>
  <PresentationFormat>Widescreen</PresentationFormat>
  <Paragraphs>46</Paragraphs>
  <Slides>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Algerian</vt:lpstr>
      <vt:lpstr>Arial</vt:lpstr>
      <vt:lpstr>Arial Rounded MT Bold</vt:lpstr>
      <vt:lpstr>Castellar</vt:lpstr>
      <vt:lpstr>Century Gothic</vt:lpstr>
      <vt:lpstr>Elephant</vt:lpstr>
      <vt:lpstr>Wingdings</vt:lpstr>
      <vt:lpstr>Wingdings 3</vt:lpstr>
      <vt:lpstr>Ion Boardroom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nanditha.mettu@outlook.com</dc:creator>
  <cp:lastModifiedBy>nanditha.mettu@outlook.com</cp:lastModifiedBy>
  <cp:revision>2</cp:revision>
  <dcterms:created xsi:type="dcterms:W3CDTF">2024-10-04T13:53:43Z</dcterms:created>
  <dcterms:modified xsi:type="dcterms:W3CDTF">2024-10-04T16:37:58Z</dcterms:modified>
</cp:coreProperties>
</file>